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8"/>
  </p:notesMasterIdLst>
  <p:sldIdLst>
    <p:sldId id="259" r:id="rId3"/>
    <p:sldId id="256" r:id="rId4"/>
    <p:sldId id="257" r:id="rId5"/>
    <p:sldId id="260" r:id="rId6"/>
    <p:sldId id="258" r:id="rId7"/>
  </p:sldIdLst>
  <p:sldSz cx="14630400" cy="8229600"/>
  <p:notesSz cx="8229600" cy="14630400"/>
  <p:embeddedFontLst>
    <p:embeddedFont>
      <p:font typeface="Alexandria Semi Bold" panose="020B0604020202020204" charset="-78"/>
      <p:regular r:id="rId9"/>
    </p:embeddedFont>
    <p:embeddedFont>
      <p:font typeface="Lexend" panose="020B0604020202020204" charset="0"/>
      <p:regular r:id="rId10"/>
      <p:bold r:id="rId11"/>
    </p:embeddedFont>
    <p:embeddedFont>
      <p:font typeface="Lexend SemiBold" panose="020B0604020202020204" charset="0"/>
      <p:regular r:id="rId12"/>
      <p:bold r:id="rId13"/>
    </p:embeddedFont>
    <p:embeddedFont>
      <p:font typeface="Sora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47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F438F0D-0E3C-1780-7F72-B2344FDA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2e1533202_1_31:notes">
            <a:extLst>
              <a:ext uri="{FF2B5EF4-FFF2-40B4-BE49-F238E27FC236}">
                <a16:creationId xmlns:a16="http://schemas.microsoft.com/office/drawing/2014/main" id="{487D0C8C-8099-33D2-9A53-6E9FD9149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382e1533202_1_31:notes">
            <a:extLst>
              <a:ext uri="{FF2B5EF4-FFF2-40B4-BE49-F238E27FC236}">
                <a16:creationId xmlns:a16="http://schemas.microsoft.com/office/drawing/2014/main" id="{459CB7BC-AA44-66DD-18C9-DE5D563B8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78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2e1533202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382e1533202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1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548640" y="1704340"/>
            <a:ext cx="6217920" cy="117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097280" y="3108960"/>
            <a:ext cx="5120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12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5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365760" y="1280161"/>
            <a:ext cx="6583680" cy="362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1520" lvl="1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97280" lvl="2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63040" lvl="3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828800" lvl="4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194560" lvl="5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60320" lvl="6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26080" lvl="7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291840" lvl="8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2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577850" y="3525520"/>
            <a:ext cx="6217920" cy="108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577850" y="2325371"/>
            <a:ext cx="621792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65760" lvl="0" indent="-182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600">
                <a:solidFill>
                  <a:srgbClr val="888888"/>
                </a:solidFill>
              </a:defRPr>
            </a:lvl1pPr>
            <a:lvl2pPr marL="731520" lvl="1" indent="-18288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440">
                <a:solidFill>
                  <a:srgbClr val="888888"/>
                </a:solidFill>
              </a:defRPr>
            </a:lvl2pPr>
            <a:lvl3pPr marL="1097280" lvl="2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80">
                <a:solidFill>
                  <a:srgbClr val="888888"/>
                </a:solidFill>
              </a:defRPr>
            </a:lvl3pPr>
            <a:lvl4pPr marL="1463040" lvl="3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4pPr>
            <a:lvl5pPr marL="1828800" lvl="4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5pPr>
            <a:lvl6pPr marL="2194560" lvl="5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6pPr>
            <a:lvl7pPr marL="2560320" lvl="6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7pPr>
            <a:lvl8pPr marL="2926080" lvl="7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8pPr>
            <a:lvl9pPr marL="3291840" lvl="8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65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365760" y="1280161"/>
            <a:ext cx="3230880" cy="362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32512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240"/>
            </a:lvl1pPr>
            <a:lvl2pPr marL="731520" lvl="1" indent="-30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920"/>
            </a:lvl2pPr>
            <a:lvl3pPr marL="1097280" lvl="2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3pPr>
            <a:lvl4pPr marL="1463040" lvl="3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440"/>
            </a:lvl4pPr>
            <a:lvl5pPr marL="1828800" lvl="4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440"/>
            </a:lvl5pPr>
            <a:lvl6pPr marL="2194560" lvl="5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6pPr>
            <a:lvl7pPr marL="2560320" lvl="6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7pPr>
            <a:lvl8pPr marL="2926080" lvl="7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8pPr>
            <a:lvl9pPr marL="3291840" lvl="8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3718560" y="1280161"/>
            <a:ext cx="3230880" cy="362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32512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240"/>
            </a:lvl1pPr>
            <a:lvl2pPr marL="731520" lvl="1" indent="-30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920"/>
            </a:lvl2pPr>
            <a:lvl3pPr marL="1097280" lvl="2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3pPr>
            <a:lvl4pPr marL="1463040" lvl="3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440"/>
            </a:lvl4pPr>
            <a:lvl5pPr marL="1828800" lvl="4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440"/>
            </a:lvl5pPr>
            <a:lvl6pPr marL="2194560" lvl="5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6pPr>
            <a:lvl7pPr marL="2560320" lvl="6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7pPr>
            <a:lvl8pPr marL="2926080" lvl="7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8pPr>
            <a:lvl9pPr marL="3291840" lvl="8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8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365760" y="1228090"/>
            <a:ext cx="3232150" cy="51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65760" lvl="0" indent="-18288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20" b="1"/>
            </a:lvl1pPr>
            <a:lvl2pPr marL="731520" lvl="1" indent="-182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/>
            </a:lvl2pPr>
            <a:lvl3pPr marL="1097280" lvl="2" indent="-18288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40" b="1"/>
            </a:lvl3pPr>
            <a:lvl4pPr marL="1463040" lvl="3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4pPr>
            <a:lvl5pPr marL="1828800" lvl="4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5pPr>
            <a:lvl6pPr marL="2194560" lvl="5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6pPr>
            <a:lvl7pPr marL="2560320" lvl="6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7pPr>
            <a:lvl8pPr marL="2926080" lvl="7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8pPr>
            <a:lvl9pPr marL="3291840" lvl="8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365760" y="1739900"/>
            <a:ext cx="3232150" cy="316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30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1pPr>
            <a:lvl2pPr marL="731520" lvl="1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2pPr>
            <a:lvl3pPr marL="1097280" lvl="2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3pPr>
            <a:lvl4pPr marL="1463040" lvl="3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80"/>
            </a:lvl4pPr>
            <a:lvl5pPr marL="1828800" lvl="4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80"/>
            </a:lvl5pPr>
            <a:lvl6pPr marL="2194560" lvl="5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6pPr>
            <a:lvl7pPr marL="2560320" lvl="6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7pPr>
            <a:lvl8pPr marL="2926080" lvl="7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8pPr>
            <a:lvl9pPr marL="3291840" lvl="8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3716020" y="1228090"/>
            <a:ext cx="3233420" cy="51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65760" lvl="0" indent="-18288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20" b="1"/>
            </a:lvl1pPr>
            <a:lvl2pPr marL="731520" lvl="1" indent="-182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/>
            </a:lvl2pPr>
            <a:lvl3pPr marL="1097280" lvl="2" indent="-18288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40" b="1"/>
            </a:lvl3pPr>
            <a:lvl4pPr marL="1463040" lvl="3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4pPr>
            <a:lvl5pPr marL="1828800" lvl="4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5pPr>
            <a:lvl6pPr marL="2194560" lvl="5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6pPr>
            <a:lvl7pPr marL="2560320" lvl="6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7pPr>
            <a:lvl8pPr marL="2926080" lvl="7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8pPr>
            <a:lvl9pPr marL="3291840" lvl="8" indent="-18288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8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3716020" y="1739900"/>
            <a:ext cx="3233420" cy="316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30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1pPr>
            <a:lvl2pPr marL="731520" lvl="1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2pPr>
            <a:lvl3pPr marL="1097280" lvl="2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40"/>
            </a:lvl3pPr>
            <a:lvl4pPr marL="1463040" lvl="3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80"/>
            </a:lvl4pPr>
            <a:lvl5pPr marL="1828800" lvl="4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80"/>
            </a:lvl5pPr>
            <a:lvl6pPr marL="2194560" lvl="5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6pPr>
            <a:lvl7pPr marL="2560320" lvl="6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7pPr>
            <a:lvl8pPr marL="2926080" lvl="7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8pPr>
            <a:lvl9pPr marL="3291840" lvl="8" indent="-26416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80"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2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5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365761" y="218440"/>
            <a:ext cx="2406650" cy="92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2860040" y="218441"/>
            <a:ext cx="4089400" cy="468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345440" algn="l">
              <a:lnSpc>
                <a:spcPct val="10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560"/>
            </a:lvl1pPr>
            <a:lvl2pPr marL="731520" lvl="1" indent="-32512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240"/>
            </a:lvl2pPr>
            <a:lvl3pPr marL="1097280" lvl="2" indent="-30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920"/>
            </a:lvl3pPr>
            <a:lvl4pPr marL="1463040" lvl="3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600"/>
            </a:lvl4pPr>
            <a:lvl5pPr marL="1828800" lvl="4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600"/>
            </a:lvl5pPr>
            <a:lvl6pPr marL="2194560" lvl="5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6pPr>
            <a:lvl7pPr marL="2560320" lvl="6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7pPr>
            <a:lvl8pPr marL="2926080" lvl="7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8pPr>
            <a:lvl9pPr marL="3291840" lvl="8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365761" y="1148081"/>
            <a:ext cx="2406650" cy="37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20"/>
            </a:lvl1pPr>
            <a:lvl2pPr marL="731520" lvl="1" indent="-18288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60"/>
            </a:lvl2pPr>
            <a:lvl3pPr marL="1097280" lvl="2" indent="-18288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800"/>
            </a:lvl3pPr>
            <a:lvl4pPr marL="1463040" lvl="3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4pPr>
            <a:lvl5pPr marL="1828800" lvl="4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5pPr>
            <a:lvl6pPr marL="2194560" lvl="5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6pPr>
            <a:lvl7pPr marL="2560320" lvl="6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7pPr>
            <a:lvl8pPr marL="2926080" lvl="7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8pPr>
            <a:lvl9pPr marL="3291840" lvl="8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60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433830" y="3840480"/>
            <a:ext cx="438912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433830" y="490220"/>
            <a:ext cx="4389120" cy="329184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433830" y="4293870"/>
            <a:ext cx="438912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182880" algn="l">
              <a:lnSpc>
                <a:spcPct val="100000"/>
              </a:lnSpc>
              <a:spcBef>
                <a:spcPts val="22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20"/>
            </a:lvl1pPr>
            <a:lvl2pPr marL="731520" lvl="1" indent="-18288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60"/>
            </a:lvl2pPr>
            <a:lvl3pPr marL="1097280" lvl="2" indent="-18288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800"/>
            </a:lvl3pPr>
            <a:lvl4pPr marL="1463040" lvl="3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4pPr>
            <a:lvl5pPr marL="1828800" lvl="4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5pPr>
            <a:lvl6pPr marL="2194560" lvl="5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6pPr>
            <a:lvl7pPr marL="2560320" lvl="6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7pPr>
            <a:lvl8pPr marL="2926080" lvl="7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8pPr>
            <a:lvl9pPr marL="3291840" lvl="8" indent="-18288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72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50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847216" y="-201294"/>
            <a:ext cx="362077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1520" lvl="1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97280" lvl="2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63040" lvl="3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828800" lvl="4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194560" lvl="5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60320" lvl="6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26080" lvl="7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291840" lvl="8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27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3785871" y="1737361"/>
            <a:ext cx="46812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433071" y="152400"/>
            <a:ext cx="4681220" cy="481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5760" lvl="0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1520" lvl="1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97280" lvl="2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63040" lvl="3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828800" lvl="4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194560" lvl="5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60320" lvl="6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26080" lvl="7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291840" lvl="8" indent="-27432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2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65760" y="21971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65760" y="1280161"/>
            <a:ext cx="6583680" cy="362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3657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2499360" y="5085080"/>
            <a:ext cx="23164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5242560" y="5085080"/>
            <a:ext cx="170688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40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github.com/sunnnybala/Gstar-individual-projec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8080" y="518"/>
            <a:ext cx="14706271" cy="8229906"/>
            <a:chOff x="0" y="-38100"/>
            <a:chExt cx="9683333" cy="844196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9683333" cy="8403868"/>
            </a:xfrm>
            <a:custGeom>
              <a:avLst/>
              <a:gdLst/>
              <a:ahLst/>
              <a:cxnLst/>
              <a:rect l="l" t="t" r="r" b="b"/>
              <a:pathLst>
                <a:path w="9683333" h="8403868" extrusionOk="0">
                  <a:moveTo>
                    <a:pt x="0" y="0"/>
                  </a:moveTo>
                  <a:lnTo>
                    <a:pt x="9683333" y="0"/>
                  </a:lnTo>
                  <a:lnTo>
                    <a:pt x="9683333" y="8403868"/>
                  </a:lnTo>
                  <a:lnTo>
                    <a:pt x="0" y="8403868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  <p:txBody>
            <a:bodyPr/>
            <a:lstStyle/>
            <a:p>
              <a:endParaRPr lang="en-IN" sz="1440"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9683333" cy="8441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>
                <a:lnSpc>
                  <a:spcPct val="84000"/>
                </a:lnSpc>
                <a:buClr>
                  <a:srgbClr val="000000"/>
                </a:buClr>
                <a:buSzPts val="1800"/>
              </a:pPr>
              <a:endParaRPr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-27540" y="0"/>
            <a:ext cx="14630400" cy="8236550"/>
          </a:xfrm>
          <a:custGeom>
            <a:avLst/>
            <a:gdLst/>
            <a:ahLst/>
            <a:cxnLst/>
            <a:rect l="l" t="t" r="r" b="b"/>
            <a:pathLst>
              <a:path w="18288000" h="10373489" extrusionOk="0">
                <a:moveTo>
                  <a:pt x="0" y="0"/>
                </a:moveTo>
                <a:lnTo>
                  <a:pt x="18288000" y="0"/>
                </a:lnTo>
                <a:lnTo>
                  <a:pt x="18288000" y="10373489"/>
                </a:lnTo>
                <a:lnTo>
                  <a:pt x="0" y="10373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8045" r="-19611" b="-1488"/>
            </a:stretch>
          </a:blipFill>
          <a:ln>
            <a:noFill/>
          </a:ln>
        </p:spPr>
        <p:txBody>
          <a:bodyPr/>
          <a:lstStyle/>
          <a:p>
            <a:endParaRPr lang="en-IN" sz="1440"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156314"/>
            <a:ext cx="6632950" cy="77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4987"/>
              </a:lnSpc>
              <a:buClr>
                <a:srgbClr val="000000"/>
              </a:buClr>
              <a:buSzPts val="5975"/>
            </a:pPr>
            <a:r>
              <a:rPr lang="en-US" sz="4780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GStar Bootcamp 2025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2900" y="3690047"/>
            <a:ext cx="12929520" cy="3295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8499"/>
            </a:pPr>
            <a:r>
              <a:rPr lang="en-US" sz="6799" b="1" dirty="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Dhruv Agarwal – Personalized AI Tutor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5000"/>
              </a:lnSpc>
              <a:buClr>
                <a:srgbClr val="000000"/>
              </a:buClr>
              <a:buSzPts val="8499"/>
            </a:pPr>
            <a:endParaRPr sz="6799" b="1" dirty="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03909" y="396976"/>
            <a:ext cx="1269970" cy="1396836"/>
          </a:xfrm>
          <a:custGeom>
            <a:avLst/>
            <a:gdLst/>
            <a:ahLst/>
            <a:cxnLst/>
            <a:rect l="l" t="t" r="r" b="b"/>
            <a:pathLst>
              <a:path w="1587462" h="1746045" extrusionOk="0">
                <a:moveTo>
                  <a:pt x="0" y="0"/>
                </a:moveTo>
                <a:lnTo>
                  <a:pt x="1587462" y="0"/>
                </a:lnTo>
                <a:lnTo>
                  <a:pt x="1587462" y="1746045"/>
                </a:lnTo>
                <a:lnTo>
                  <a:pt x="0" y="1746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sz="1440"/>
          </a:p>
        </p:txBody>
      </p:sp>
      <p:cxnSp>
        <p:nvCxnSpPr>
          <p:cNvPr id="91" name="Google Shape;91;p1"/>
          <p:cNvCxnSpPr/>
          <p:nvPr/>
        </p:nvCxnSpPr>
        <p:spPr>
          <a:xfrm>
            <a:off x="822960" y="7267947"/>
            <a:ext cx="1298448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114" y="703031"/>
            <a:ext cx="7883366" cy="67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Adaptive AI Tutoring System</a:t>
            </a:r>
            <a:endParaRPr lang="en-US" sz="4250" b="1" dirty="0"/>
          </a:p>
        </p:txBody>
      </p:sp>
      <p:sp>
        <p:nvSpPr>
          <p:cNvPr id="3" name="Text 1"/>
          <p:cNvSpPr/>
          <p:nvPr/>
        </p:nvSpPr>
        <p:spPr>
          <a:xfrm>
            <a:off x="722114" y="1660327"/>
            <a:ext cx="1318617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AI Tutoring System that transforms how students learn through intelligent, real-time optimization of teaching strategies.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114" y="2222421"/>
            <a:ext cx="4257794" cy="288047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6069" y="2436376"/>
            <a:ext cx="382988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Reinforcement Learning Core</a:t>
            </a:r>
            <a:endParaRPr lang="en-US" sz="2100" b="1" dirty="0"/>
          </a:p>
        </p:txBody>
      </p:sp>
      <p:sp>
        <p:nvSpPr>
          <p:cNvPr id="6" name="Text 4"/>
          <p:cNvSpPr/>
          <p:nvPr/>
        </p:nvSpPr>
        <p:spPr>
          <a:xfrm>
            <a:off x="936069" y="3238738"/>
            <a:ext cx="3829883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Continuously optimizes teaching strategies using direct feedback from student quiz performance, creating a self-improving educational experience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86243" y="2222421"/>
            <a:ext cx="4257794" cy="288047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00199" y="2436376"/>
            <a:ext cx="382988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Merlyn Minds 12B Integration</a:t>
            </a:r>
            <a:endParaRPr lang="en-US" sz="2100" b="1" dirty="0"/>
          </a:p>
        </p:txBody>
      </p:sp>
      <p:sp>
        <p:nvSpPr>
          <p:cNvPr id="9" name="Text 7"/>
          <p:cNvSpPr/>
          <p:nvPr/>
        </p:nvSpPr>
        <p:spPr>
          <a:xfrm>
            <a:off x="5400199" y="3238738"/>
            <a:ext cx="3829883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Leverages education-specific language model enhanced with verifiable rewards from quiz results to deliver personalized responses in real-time.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650373" y="2222421"/>
            <a:ext cx="4257913" cy="288047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64328" y="2436376"/>
            <a:ext cx="2929176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Deep Personalization</a:t>
            </a:r>
            <a:endParaRPr lang="en-US" sz="2100" b="1" dirty="0"/>
          </a:p>
        </p:txBody>
      </p:sp>
      <p:sp>
        <p:nvSpPr>
          <p:cNvPr id="12" name="Text 10"/>
          <p:cNvSpPr/>
          <p:nvPr/>
        </p:nvSpPr>
        <p:spPr>
          <a:xfrm>
            <a:off x="9864328" y="3153550"/>
            <a:ext cx="3830003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Integrates user demographics, learning preferences, and academic history to create truly individualized learning experiences that adapt to each student's unique needs.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2114" y="5541288"/>
            <a:ext cx="3422452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Technical Innovation</a:t>
            </a:r>
            <a:endParaRPr lang="en-US" sz="2550" b="1" dirty="0"/>
          </a:p>
        </p:txBody>
      </p:sp>
      <p:sp>
        <p:nvSpPr>
          <p:cNvPr id="14" name="Text 12"/>
          <p:cNvSpPr/>
          <p:nvPr/>
        </p:nvSpPr>
        <p:spPr>
          <a:xfrm>
            <a:off x="722114" y="6154817"/>
            <a:ext cx="6341388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Our streamlined three-component architecture combines knowledge graph-enhanced retrieval with dynamic prompt generation and direct reinforcement learning pipeline for maximum efficiency.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74518" y="5541288"/>
            <a:ext cx="3258026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Market Impact</a:t>
            </a:r>
            <a:endParaRPr lang="en-US" sz="2550" b="1" dirty="0"/>
          </a:p>
        </p:txBody>
      </p:sp>
      <p:sp>
        <p:nvSpPr>
          <p:cNvPr id="16" name="Text 14"/>
          <p:cNvSpPr/>
          <p:nvPr/>
        </p:nvSpPr>
        <p:spPr>
          <a:xfrm>
            <a:off x="7574518" y="6154817"/>
            <a:ext cx="6341388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Addresses critical limitations of static AI tutors by enabling curriculum-grounded content delivery that evolves with each learner's progress and performance patterns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dirty="0"/>
          </a:p>
        </p:txBody>
      </p:sp>
      <p:grpSp>
        <p:nvGrpSpPr>
          <p:cNvPr id="17" name="Google Shape;98;g382e1533202_1_31">
            <a:extLst>
              <a:ext uri="{FF2B5EF4-FFF2-40B4-BE49-F238E27FC236}">
                <a16:creationId xmlns:a16="http://schemas.microsoft.com/office/drawing/2014/main" id="{C7EDE827-D985-534E-4371-81F016FC34F6}"/>
              </a:ext>
            </a:extLst>
          </p:cNvPr>
          <p:cNvGrpSpPr/>
          <p:nvPr/>
        </p:nvGrpSpPr>
        <p:grpSpPr>
          <a:xfrm>
            <a:off x="-6148" y="7701982"/>
            <a:ext cx="14636646" cy="527618"/>
            <a:chOff x="0" y="-38100"/>
            <a:chExt cx="4818617" cy="173700"/>
          </a:xfrm>
        </p:grpSpPr>
        <p:sp>
          <p:nvSpPr>
            <p:cNvPr id="18" name="Google Shape;99;g382e1533202_1_31">
              <a:extLst>
                <a:ext uri="{FF2B5EF4-FFF2-40B4-BE49-F238E27FC236}">
                  <a16:creationId xmlns:a16="http://schemas.microsoft.com/office/drawing/2014/main" id="{08727847-1C68-A503-B93E-7D1E864AAF2C}"/>
                </a:ext>
              </a:extLst>
            </p:cNvPr>
            <p:cNvSpPr/>
            <p:nvPr/>
          </p:nvSpPr>
          <p:spPr>
            <a:xfrm>
              <a:off x="0" y="0"/>
              <a:ext cx="4818617" cy="135460"/>
            </a:xfrm>
            <a:custGeom>
              <a:avLst/>
              <a:gdLst/>
              <a:ahLst/>
              <a:cxnLst/>
              <a:rect l="l" t="t" r="r" b="b"/>
              <a:pathLst>
                <a:path w="4818617" h="135460" extrusionOk="0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  <p:txBody>
            <a:bodyPr/>
            <a:lstStyle/>
            <a:p>
              <a:pPr defTabSz="731520">
                <a:buClr>
                  <a:srgbClr val="000000"/>
                </a:buClr>
              </a:pPr>
              <a:endParaRPr lang="en-IN" sz="112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100;g382e1533202_1_31">
              <a:extLst>
                <a:ext uri="{FF2B5EF4-FFF2-40B4-BE49-F238E27FC236}">
                  <a16:creationId xmlns:a16="http://schemas.microsoft.com/office/drawing/2014/main" id="{F370C92D-5574-FC8F-6112-AB22EC6C841A}"/>
                </a:ext>
              </a:extLst>
            </p:cNvPr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 algn="ctr" defTabSz="731520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44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96;g382e1533202_1_31">
            <a:extLst>
              <a:ext uri="{FF2B5EF4-FFF2-40B4-BE49-F238E27FC236}">
                <a16:creationId xmlns:a16="http://schemas.microsoft.com/office/drawing/2014/main" id="{5B44FD5D-C971-BAE4-D7BB-D7754709C555}"/>
              </a:ext>
            </a:extLst>
          </p:cNvPr>
          <p:cNvSpPr/>
          <p:nvPr/>
        </p:nvSpPr>
        <p:spPr>
          <a:xfrm>
            <a:off x="-6148" y="0"/>
            <a:ext cx="283318" cy="1062658"/>
          </a:xfrm>
          <a:custGeom>
            <a:avLst/>
            <a:gdLst/>
            <a:ahLst/>
            <a:cxnLst/>
            <a:rect l="l" t="t" r="r" b="b"/>
            <a:pathLst>
              <a:path w="354147" h="1328322" extrusionOk="0">
                <a:moveTo>
                  <a:pt x="0" y="0"/>
                </a:moveTo>
                <a:lnTo>
                  <a:pt x="354147" y="0"/>
                </a:lnTo>
                <a:lnTo>
                  <a:pt x="354147" y="1328322"/>
                </a:lnTo>
                <a:lnTo>
                  <a:pt x="0" y="132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97;g382e1533202_1_31">
            <a:extLst>
              <a:ext uri="{FF2B5EF4-FFF2-40B4-BE49-F238E27FC236}">
                <a16:creationId xmlns:a16="http://schemas.microsoft.com/office/drawing/2014/main" id="{59D378F9-A6D3-DBA3-F20E-02135E618DF1}"/>
              </a:ext>
            </a:extLst>
          </p:cNvPr>
          <p:cNvSpPr/>
          <p:nvPr/>
        </p:nvSpPr>
        <p:spPr>
          <a:xfrm>
            <a:off x="11939875" y="393958"/>
            <a:ext cx="2227597" cy="533870"/>
          </a:xfrm>
          <a:custGeom>
            <a:avLst/>
            <a:gdLst/>
            <a:ahLst/>
            <a:cxnLst/>
            <a:rect l="l" t="t" r="r" b="b"/>
            <a:pathLst>
              <a:path w="2784496" h="667338" extrusionOk="0">
                <a:moveTo>
                  <a:pt x="0" y="0"/>
                </a:moveTo>
                <a:lnTo>
                  <a:pt x="2784496" y="0"/>
                </a:lnTo>
                <a:lnTo>
                  <a:pt x="2784496" y="667338"/>
                </a:lnTo>
                <a:lnTo>
                  <a:pt x="0" y="667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4016" t="-49764" r="-11107" b="-33024"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5068" y="709580"/>
            <a:ext cx="7691914" cy="136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Architecture &amp; Implementation</a:t>
            </a:r>
            <a:endParaRPr lang="en-US" sz="4250" b="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68" y="1772429"/>
            <a:ext cx="207407" cy="25919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5068" y="2192162"/>
            <a:ext cx="37422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545067" y="2445815"/>
            <a:ext cx="3742253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Preventing Reward Hacking</a:t>
            </a:r>
            <a:endParaRPr lang="en-US" sz="2100" b="1" dirty="0"/>
          </a:p>
        </p:txBody>
      </p:sp>
      <p:sp>
        <p:nvSpPr>
          <p:cNvPr id="7" name="Text 3"/>
          <p:cNvSpPr/>
          <p:nvPr/>
        </p:nvSpPr>
        <p:spPr>
          <a:xfrm>
            <a:off x="545068" y="3006893"/>
            <a:ext cx="3742253" cy="165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Ensures system integrity by separating quiz generation from response generation, preventing manipulation of the learning feedback loop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48" y="1772429"/>
            <a:ext cx="207407" cy="25919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86348" y="2172377"/>
            <a:ext cx="37422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5"/>
          <p:cNvSpPr/>
          <p:nvPr/>
        </p:nvSpPr>
        <p:spPr>
          <a:xfrm>
            <a:off x="5083608" y="2452968"/>
            <a:ext cx="321361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Reward Model Training</a:t>
            </a:r>
            <a:endParaRPr lang="en-US" sz="2100" b="1" dirty="0"/>
          </a:p>
        </p:txBody>
      </p:sp>
      <p:sp>
        <p:nvSpPr>
          <p:cNvPr id="11" name="Text 6"/>
          <p:cNvSpPr/>
          <p:nvPr/>
        </p:nvSpPr>
        <p:spPr>
          <a:xfrm>
            <a:off x="5052114" y="3003690"/>
            <a:ext cx="3742253" cy="165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Trains sophisticated reward models using context-reward pairs from student interaction history to accurately predict effective teaching strategies.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67" y="4726519"/>
            <a:ext cx="207407" cy="25919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5067" y="5211271"/>
            <a:ext cx="7691914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545068" y="5441223"/>
            <a:ext cx="3825240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ea typeface="Alexandria Semi Bold" pitchFamily="34" charset="-122"/>
                <a:cs typeface="Alexandria Semi Bold" pitchFamily="34" charset="-120"/>
              </a:rPr>
              <a:t>Effectiveness Measurement</a:t>
            </a:r>
            <a:endParaRPr lang="en-US" sz="2100" b="1" dirty="0"/>
          </a:p>
        </p:txBody>
      </p:sp>
      <p:sp>
        <p:nvSpPr>
          <p:cNvPr id="15" name="Text 9"/>
          <p:cNvSpPr/>
          <p:nvPr/>
        </p:nvSpPr>
        <p:spPr>
          <a:xfrm>
            <a:off x="545016" y="5881744"/>
            <a:ext cx="7691914" cy="719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anose="020B0604020202020204" charset="0"/>
              </a:rPr>
              <a:t>Tracks learning progress through changing quiz scores and comprehensive knowledge retention testing at 1-week and 1-month intervals.</a:t>
            </a:r>
            <a:endParaRPr lang="en-US" dirty="0">
              <a:cs typeface="Sora Light" panose="020B0604020202020204" charset="0"/>
            </a:endParaRPr>
          </a:p>
        </p:txBody>
      </p:sp>
      <p:grpSp>
        <p:nvGrpSpPr>
          <p:cNvPr id="16" name="Google Shape;98;g382e1533202_1_31">
            <a:extLst>
              <a:ext uri="{FF2B5EF4-FFF2-40B4-BE49-F238E27FC236}">
                <a16:creationId xmlns:a16="http://schemas.microsoft.com/office/drawing/2014/main" id="{F1415855-51FC-40C8-551C-3A8CFAA24243}"/>
              </a:ext>
            </a:extLst>
          </p:cNvPr>
          <p:cNvGrpSpPr/>
          <p:nvPr/>
        </p:nvGrpSpPr>
        <p:grpSpPr>
          <a:xfrm>
            <a:off x="-6148" y="7701982"/>
            <a:ext cx="14636646" cy="527618"/>
            <a:chOff x="0" y="-38100"/>
            <a:chExt cx="4818617" cy="173700"/>
          </a:xfrm>
        </p:grpSpPr>
        <p:sp>
          <p:nvSpPr>
            <p:cNvPr id="17" name="Google Shape;99;g382e1533202_1_31">
              <a:extLst>
                <a:ext uri="{FF2B5EF4-FFF2-40B4-BE49-F238E27FC236}">
                  <a16:creationId xmlns:a16="http://schemas.microsoft.com/office/drawing/2014/main" id="{1A1BE009-1B64-1324-76E5-68B0E4D712EC}"/>
                </a:ext>
              </a:extLst>
            </p:cNvPr>
            <p:cNvSpPr/>
            <p:nvPr/>
          </p:nvSpPr>
          <p:spPr>
            <a:xfrm>
              <a:off x="0" y="0"/>
              <a:ext cx="4818617" cy="135460"/>
            </a:xfrm>
            <a:custGeom>
              <a:avLst/>
              <a:gdLst/>
              <a:ahLst/>
              <a:cxnLst/>
              <a:rect l="l" t="t" r="r" b="b"/>
              <a:pathLst>
                <a:path w="4818617" h="135460" extrusionOk="0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  <p:txBody>
            <a:bodyPr/>
            <a:lstStyle/>
            <a:p>
              <a:pPr defTabSz="731520">
                <a:buClr>
                  <a:srgbClr val="000000"/>
                </a:buClr>
              </a:pPr>
              <a:endParaRPr lang="en-IN" sz="112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100;g382e1533202_1_31">
              <a:extLst>
                <a:ext uri="{FF2B5EF4-FFF2-40B4-BE49-F238E27FC236}">
                  <a16:creationId xmlns:a16="http://schemas.microsoft.com/office/drawing/2014/main" id="{187E4C72-D72F-1D34-3D3C-CCA46838C2E7}"/>
                </a:ext>
              </a:extLst>
            </p:cNvPr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 algn="ctr" defTabSz="731520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44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96;g382e1533202_1_31">
            <a:extLst>
              <a:ext uri="{FF2B5EF4-FFF2-40B4-BE49-F238E27FC236}">
                <a16:creationId xmlns:a16="http://schemas.microsoft.com/office/drawing/2014/main" id="{48580435-555D-60C0-BAA4-DE20556F17B3}"/>
              </a:ext>
            </a:extLst>
          </p:cNvPr>
          <p:cNvSpPr/>
          <p:nvPr/>
        </p:nvSpPr>
        <p:spPr>
          <a:xfrm>
            <a:off x="-6148" y="0"/>
            <a:ext cx="283318" cy="1062658"/>
          </a:xfrm>
          <a:custGeom>
            <a:avLst/>
            <a:gdLst/>
            <a:ahLst/>
            <a:cxnLst/>
            <a:rect l="l" t="t" r="r" b="b"/>
            <a:pathLst>
              <a:path w="354147" h="1328322" extrusionOk="0">
                <a:moveTo>
                  <a:pt x="0" y="0"/>
                </a:moveTo>
                <a:lnTo>
                  <a:pt x="354147" y="0"/>
                </a:lnTo>
                <a:lnTo>
                  <a:pt x="354147" y="1328322"/>
                </a:lnTo>
                <a:lnTo>
                  <a:pt x="0" y="132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97;g382e1533202_1_31">
            <a:extLst>
              <a:ext uri="{FF2B5EF4-FFF2-40B4-BE49-F238E27FC236}">
                <a16:creationId xmlns:a16="http://schemas.microsoft.com/office/drawing/2014/main" id="{6309A5BE-3F9C-5CD1-EE0D-DDDB542DA349}"/>
              </a:ext>
            </a:extLst>
          </p:cNvPr>
          <p:cNvSpPr/>
          <p:nvPr/>
        </p:nvSpPr>
        <p:spPr>
          <a:xfrm>
            <a:off x="12033229" y="250008"/>
            <a:ext cx="2227597" cy="533870"/>
          </a:xfrm>
          <a:custGeom>
            <a:avLst/>
            <a:gdLst/>
            <a:ahLst/>
            <a:cxnLst/>
            <a:rect l="l" t="t" r="r" b="b"/>
            <a:pathLst>
              <a:path w="2784496" h="667338" extrusionOk="0">
                <a:moveTo>
                  <a:pt x="0" y="0"/>
                </a:moveTo>
                <a:lnTo>
                  <a:pt x="2784496" y="0"/>
                </a:lnTo>
                <a:lnTo>
                  <a:pt x="2784496" y="667338"/>
                </a:lnTo>
                <a:lnTo>
                  <a:pt x="0" y="667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14016" t="-49764" r="-11107" b="-33024"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2" name="Picture 21" descr="A diagram of a person&#10;&#10;AI-generated content may be incorrect.">
            <a:extLst>
              <a:ext uri="{FF2B5EF4-FFF2-40B4-BE49-F238E27FC236}">
                <a16:creationId xmlns:a16="http://schemas.microsoft.com/office/drawing/2014/main" id="{CA82ADE4-7387-0DBA-81E1-97D82C222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3513" y="1957047"/>
            <a:ext cx="5079687" cy="4850546"/>
          </a:xfrm>
          <a:prstGeom prst="rect">
            <a:avLst/>
          </a:prstGeom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F653AAA8-8D8F-E168-739D-6AA3D0151256}"/>
              </a:ext>
            </a:extLst>
          </p:cNvPr>
          <p:cNvSpPr/>
          <p:nvPr/>
        </p:nvSpPr>
        <p:spPr>
          <a:xfrm>
            <a:off x="545016" y="7238667"/>
            <a:ext cx="6112959" cy="535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dirty="0" err="1">
                <a:cs typeface="Sora Light" panose="020B0604020202020204" charset="0"/>
              </a:rPr>
              <a:t>Github</a:t>
            </a:r>
            <a:r>
              <a:rPr lang="en-US" dirty="0">
                <a:cs typeface="Sora Light" panose="020B0604020202020204" charset="0"/>
              </a:rPr>
              <a:t>: </a:t>
            </a:r>
            <a:r>
              <a:rPr lang="en-US" dirty="0">
                <a:cs typeface="Sora Light" panose="020B0604020202020204" charset="0"/>
                <a:hlinkClick r:id="rId9"/>
              </a:rPr>
              <a:t>https://github.com/sunnnybala/Gstar-individual-project</a:t>
            </a:r>
            <a:endParaRPr lang="en-US" dirty="0">
              <a:cs typeface="Sora Light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EC79856-0CDE-BCE1-21DC-EB5ACAC3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e1533202_1_31">
            <a:extLst>
              <a:ext uri="{FF2B5EF4-FFF2-40B4-BE49-F238E27FC236}">
                <a16:creationId xmlns:a16="http://schemas.microsoft.com/office/drawing/2014/main" id="{3A48CD4D-1F09-0903-18CA-E1599FEF38B3}"/>
              </a:ext>
            </a:extLst>
          </p:cNvPr>
          <p:cNvSpPr/>
          <p:nvPr/>
        </p:nvSpPr>
        <p:spPr>
          <a:xfrm>
            <a:off x="-6148" y="0"/>
            <a:ext cx="283318" cy="1062658"/>
          </a:xfrm>
          <a:custGeom>
            <a:avLst/>
            <a:gdLst/>
            <a:ahLst/>
            <a:cxnLst/>
            <a:rect l="l" t="t" r="r" b="b"/>
            <a:pathLst>
              <a:path w="354147" h="1328322" extrusionOk="0">
                <a:moveTo>
                  <a:pt x="0" y="0"/>
                </a:moveTo>
                <a:lnTo>
                  <a:pt x="354147" y="0"/>
                </a:lnTo>
                <a:lnTo>
                  <a:pt x="354147" y="1328322"/>
                </a:lnTo>
                <a:lnTo>
                  <a:pt x="0" y="132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IN" sz="112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97;g382e1533202_1_31">
            <a:extLst>
              <a:ext uri="{FF2B5EF4-FFF2-40B4-BE49-F238E27FC236}">
                <a16:creationId xmlns:a16="http://schemas.microsoft.com/office/drawing/2014/main" id="{29BBCAC6-4ECA-21B3-74B2-0C9BC75391C1}"/>
              </a:ext>
            </a:extLst>
          </p:cNvPr>
          <p:cNvSpPr/>
          <p:nvPr/>
        </p:nvSpPr>
        <p:spPr>
          <a:xfrm>
            <a:off x="538450" y="498838"/>
            <a:ext cx="2227597" cy="533870"/>
          </a:xfrm>
          <a:custGeom>
            <a:avLst/>
            <a:gdLst/>
            <a:ahLst/>
            <a:cxnLst/>
            <a:rect l="l" t="t" r="r" b="b"/>
            <a:pathLst>
              <a:path w="2784496" h="667338" extrusionOk="0">
                <a:moveTo>
                  <a:pt x="0" y="0"/>
                </a:moveTo>
                <a:lnTo>
                  <a:pt x="2784496" y="0"/>
                </a:lnTo>
                <a:lnTo>
                  <a:pt x="2784496" y="667338"/>
                </a:lnTo>
                <a:lnTo>
                  <a:pt x="0" y="667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4016" t="-49764" r="-11107" b="-33024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IN" sz="112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98" name="Google Shape;98;g382e1533202_1_31">
            <a:extLst>
              <a:ext uri="{FF2B5EF4-FFF2-40B4-BE49-F238E27FC236}">
                <a16:creationId xmlns:a16="http://schemas.microsoft.com/office/drawing/2014/main" id="{E4765053-D516-323E-3FE5-B7CE46BEC32D}"/>
              </a:ext>
            </a:extLst>
          </p:cNvPr>
          <p:cNvGrpSpPr/>
          <p:nvPr/>
        </p:nvGrpSpPr>
        <p:grpSpPr>
          <a:xfrm>
            <a:off x="-6148" y="7701982"/>
            <a:ext cx="14636646" cy="527618"/>
            <a:chOff x="0" y="-38100"/>
            <a:chExt cx="4818617" cy="173700"/>
          </a:xfrm>
        </p:grpSpPr>
        <p:sp>
          <p:nvSpPr>
            <p:cNvPr id="99" name="Google Shape;99;g382e1533202_1_31">
              <a:extLst>
                <a:ext uri="{FF2B5EF4-FFF2-40B4-BE49-F238E27FC236}">
                  <a16:creationId xmlns:a16="http://schemas.microsoft.com/office/drawing/2014/main" id="{7A23B53B-84E1-5E6E-BE61-74614F29C978}"/>
                </a:ext>
              </a:extLst>
            </p:cNvPr>
            <p:cNvSpPr/>
            <p:nvPr/>
          </p:nvSpPr>
          <p:spPr>
            <a:xfrm>
              <a:off x="0" y="0"/>
              <a:ext cx="4818617" cy="135460"/>
            </a:xfrm>
            <a:custGeom>
              <a:avLst/>
              <a:gdLst/>
              <a:ahLst/>
              <a:cxnLst/>
              <a:rect l="l" t="t" r="r" b="b"/>
              <a:pathLst>
                <a:path w="4818617" h="135460" extrusionOk="0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IN" sz="112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0" name="Google Shape;100;g382e1533202_1_31">
              <a:extLst>
                <a:ext uri="{FF2B5EF4-FFF2-40B4-BE49-F238E27FC236}">
                  <a16:creationId xmlns:a16="http://schemas.microsoft.com/office/drawing/2014/main" id="{43663A0B-74AA-6B4C-65C7-5A3C074C897D}"/>
                </a:ext>
              </a:extLst>
            </p:cNvPr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4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EE04A3E8-1634-612F-C2BC-D4AB67AD53F8}"/>
              </a:ext>
            </a:extLst>
          </p:cNvPr>
          <p:cNvSpPr/>
          <p:nvPr/>
        </p:nvSpPr>
        <p:spPr>
          <a:xfrm>
            <a:off x="9761339" y="1466851"/>
            <a:ext cx="3907036" cy="264794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7CFAEA2-88FD-9732-97C9-C461AFEBE66F}"/>
              </a:ext>
            </a:extLst>
          </p:cNvPr>
          <p:cNvSpPr/>
          <p:nvPr/>
        </p:nvSpPr>
        <p:spPr>
          <a:xfrm>
            <a:off x="9924217" y="1706134"/>
            <a:ext cx="344888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29B9B59-4334-88EA-18D9-1C3A6E8D4C2C}"/>
              </a:ext>
            </a:extLst>
          </p:cNvPr>
          <p:cNvSpPr/>
          <p:nvPr/>
        </p:nvSpPr>
        <p:spPr>
          <a:xfrm>
            <a:off x="10004940" y="1613537"/>
            <a:ext cx="3287435" cy="48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00" b="1" dirty="0">
                <a:solidFill>
                  <a:srgbClr val="000000"/>
                </a:solidFill>
                <a:latin typeface="Arial"/>
              </a:rPr>
              <a:t>Bandit Dummy Run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FD63B16-54B6-11A5-B743-4EDEB65A70E3}"/>
              </a:ext>
            </a:extLst>
          </p:cNvPr>
          <p:cNvSpPr/>
          <p:nvPr/>
        </p:nvSpPr>
        <p:spPr>
          <a:xfrm>
            <a:off x="10004940" y="2327911"/>
            <a:ext cx="3287436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0AEE424-519E-639C-6444-B449DB622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997962"/>
            <a:ext cx="5159658" cy="357207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4456D95-38A3-4FF2-1536-614C944B45A2}"/>
              </a:ext>
            </a:extLst>
          </p:cNvPr>
          <p:cNvSpPr/>
          <p:nvPr/>
        </p:nvSpPr>
        <p:spPr>
          <a:xfrm>
            <a:off x="10004939" y="2095500"/>
            <a:ext cx="3287436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Made 3 dummy users with specific learning style for each of them.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sing only user name, Model learned to identify the Learning style associated with each user.  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FB47C6E1-264F-4F64-430A-2513DCA8CACD}"/>
              </a:ext>
            </a:extLst>
          </p:cNvPr>
          <p:cNvSpPr/>
          <p:nvPr/>
        </p:nvSpPr>
        <p:spPr>
          <a:xfrm>
            <a:off x="538450" y="1332988"/>
            <a:ext cx="7691914" cy="136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1F1E1E"/>
                </a:solidFill>
                <a:cs typeface="Alexandria Semi Bold" pitchFamily="34" charset="-120"/>
              </a:rPr>
              <a:t>Dummy Results</a:t>
            </a:r>
            <a:endParaRPr lang="en-US" sz="4250" b="1" dirty="0"/>
          </a:p>
        </p:txBody>
      </p:sp>
    </p:spTree>
    <p:extLst>
      <p:ext uri="{BB962C8B-B14F-4D97-AF65-F5344CB8AC3E}">
        <p14:creationId xmlns:p14="http://schemas.microsoft.com/office/powerpoint/2010/main" val="303845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e1533202_1_31"/>
          <p:cNvSpPr/>
          <p:nvPr/>
        </p:nvSpPr>
        <p:spPr>
          <a:xfrm>
            <a:off x="-6148" y="0"/>
            <a:ext cx="283318" cy="1062658"/>
          </a:xfrm>
          <a:custGeom>
            <a:avLst/>
            <a:gdLst/>
            <a:ahLst/>
            <a:cxnLst/>
            <a:rect l="l" t="t" r="r" b="b"/>
            <a:pathLst>
              <a:path w="354147" h="1328322" extrusionOk="0">
                <a:moveTo>
                  <a:pt x="0" y="0"/>
                </a:moveTo>
                <a:lnTo>
                  <a:pt x="354147" y="0"/>
                </a:lnTo>
                <a:lnTo>
                  <a:pt x="354147" y="1328322"/>
                </a:lnTo>
                <a:lnTo>
                  <a:pt x="0" y="132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7" name="Google Shape;97;g382e1533202_1_31"/>
          <p:cNvSpPr/>
          <p:nvPr/>
        </p:nvSpPr>
        <p:spPr>
          <a:xfrm>
            <a:off x="538450" y="498838"/>
            <a:ext cx="2227597" cy="533870"/>
          </a:xfrm>
          <a:custGeom>
            <a:avLst/>
            <a:gdLst/>
            <a:ahLst/>
            <a:cxnLst/>
            <a:rect l="l" t="t" r="r" b="b"/>
            <a:pathLst>
              <a:path w="2784496" h="667338" extrusionOk="0">
                <a:moveTo>
                  <a:pt x="0" y="0"/>
                </a:moveTo>
                <a:lnTo>
                  <a:pt x="2784496" y="0"/>
                </a:lnTo>
                <a:lnTo>
                  <a:pt x="2784496" y="667338"/>
                </a:lnTo>
                <a:lnTo>
                  <a:pt x="0" y="667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4016" t="-49764" r="-11107" b="-33024"/>
            </a:stretch>
          </a:blipFill>
          <a:ln>
            <a:noFill/>
          </a:ln>
        </p:spPr>
        <p:txBody>
          <a:bodyPr/>
          <a:lstStyle/>
          <a:p>
            <a:pPr defTabSz="731520">
              <a:buClr>
                <a:srgbClr val="000000"/>
              </a:buClr>
            </a:pPr>
            <a:endParaRPr lang="en-IN" sz="11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8" name="Google Shape;98;g382e1533202_1_31"/>
          <p:cNvGrpSpPr/>
          <p:nvPr/>
        </p:nvGrpSpPr>
        <p:grpSpPr>
          <a:xfrm>
            <a:off x="-6148" y="7701982"/>
            <a:ext cx="14636646" cy="527618"/>
            <a:chOff x="0" y="-38100"/>
            <a:chExt cx="4818617" cy="173700"/>
          </a:xfrm>
        </p:grpSpPr>
        <p:sp>
          <p:nvSpPr>
            <p:cNvPr id="99" name="Google Shape;99;g382e1533202_1_31"/>
            <p:cNvSpPr/>
            <p:nvPr/>
          </p:nvSpPr>
          <p:spPr>
            <a:xfrm>
              <a:off x="0" y="0"/>
              <a:ext cx="4818617" cy="135460"/>
            </a:xfrm>
            <a:custGeom>
              <a:avLst/>
              <a:gdLst/>
              <a:ahLst/>
              <a:cxnLst/>
              <a:rect l="l" t="t" r="r" b="b"/>
              <a:pathLst>
                <a:path w="4818617" h="135460" extrusionOk="0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  <p:txBody>
            <a:bodyPr/>
            <a:lstStyle/>
            <a:p>
              <a:pPr defTabSz="731520">
                <a:buClr>
                  <a:srgbClr val="000000"/>
                </a:buClr>
              </a:pPr>
              <a:endParaRPr lang="en-IN" sz="112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82e1533202_1_31"/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40" tIns="40640" rIns="40640" bIns="40640" anchor="ctr" anchorCtr="0">
              <a:noAutofit/>
            </a:bodyPr>
            <a:lstStyle/>
            <a:p>
              <a:pPr algn="ctr" defTabSz="731520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44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2DB411-3A04-CD61-4EBE-D512D4C44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40" y="1381126"/>
            <a:ext cx="8742259" cy="5827394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65D23213-7028-99C0-7C53-1FD5FD768799}"/>
              </a:ext>
            </a:extLst>
          </p:cNvPr>
          <p:cNvSpPr/>
          <p:nvPr/>
        </p:nvSpPr>
        <p:spPr>
          <a:xfrm>
            <a:off x="9847064" y="1381126"/>
            <a:ext cx="3907036" cy="264794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5AD6702-08BB-2710-3D20-B0A0732F110B}"/>
              </a:ext>
            </a:extLst>
          </p:cNvPr>
          <p:cNvSpPr/>
          <p:nvPr/>
        </p:nvSpPr>
        <p:spPr>
          <a:xfrm>
            <a:off x="9847064" y="4560571"/>
            <a:ext cx="3907036" cy="2647949"/>
          </a:xfrm>
          <a:prstGeom prst="roundRect">
            <a:avLst>
              <a:gd name="adj" fmla="val 30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338CCF1-7797-F4F6-0C93-4E217B508E2E}"/>
              </a:ext>
            </a:extLst>
          </p:cNvPr>
          <p:cNvSpPr/>
          <p:nvPr/>
        </p:nvSpPr>
        <p:spPr>
          <a:xfrm>
            <a:off x="9924217" y="1706134"/>
            <a:ext cx="344888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2100" b="1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9BAEBD6-00F2-1C6F-549F-394962777B12}"/>
              </a:ext>
            </a:extLst>
          </p:cNvPr>
          <p:cNvSpPr/>
          <p:nvPr/>
        </p:nvSpPr>
        <p:spPr>
          <a:xfrm>
            <a:off x="10004940" y="1613537"/>
            <a:ext cx="3287435" cy="48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/>
              <a:t>Future Work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DC70A0A-2A47-D57F-EC07-203C44FE2683}"/>
              </a:ext>
            </a:extLst>
          </p:cNvPr>
          <p:cNvSpPr/>
          <p:nvPr/>
        </p:nvSpPr>
        <p:spPr>
          <a:xfrm>
            <a:off x="10004940" y="2327911"/>
            <a:ext cx="3287436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Integrate the model with the presented UI to enable real-time tutoring, quizzes, and event logging for analytics.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C70783-C2BF-F321-BB56-51613831DD67}"/>
              </a:ext>
            </a:extLst>
          </p:cNvPr>
          <p:cNvSpPr/>
          <p:nvPr/>
        </p:nvSpPr>
        <p:spPr>
          <a:xfrm>
            <a:off x="10004939" y="5472618"/>
            <a:ext cx="3287436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Run the RL loop on real user interactions and evaluate with actual users for learning gains, retention, and engagement.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646E48F-762C-A05F-57C2-9FECDE54132D}"/>
              </a:ext>
            </a:extLst>
          </p:cNvPr>
          <p:cNvSpPr/>
          <p:nvPr/>
        </p:nvSpPr>
        <p:spPr>
          <a:xfrm>
            <a:off x="10004940" y="4862987"/>
            <a:ext cx="3287435" cy="48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/>
              <a:t>Verifiable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306</Words>
  <Application>Microsoft Office PowerPoint</Application>
  <PresentationFormat>Custom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Lexend SemiBold</vt:lpstr>
      <vt:lpstr>Sora Light</vt:lpstr>
      <vt:lpstr>Calibri</vt:lpstr>
      <vt:lpstr>Lexend</vt:lpstr>
      <vt:lpstr>Arial</vt:lpstr>
      <vt:lpstr>Alexandria Semi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dhruv agarwal</dc:creator>
  <cp:lastModifiedBy>dhruv agarwal</cp:lastModifiedBy>
  <cp:revision>4</cp:revision>
  <dcterms:created xsi:type="dcterms:W3CDTF">2025-10-01T00:43:17Z</dcterms:created>
  <dcterms:modified xsi:type="dcterms:W3CDTF">2025-10-01T14:06:15Z</dcterms:modified>
</cp:coreProperties>
</file>